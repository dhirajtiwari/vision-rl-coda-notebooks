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-457200"/>
            <a:ext cx="4572000" cy="4114800"/>
          </a:xfrm>
          <a:prstGeom prst="rect">
            <a:avLst/>
          </a:prstGeom>
          <a:solidFill>
            <a:srgbClr val="0B4F6C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977640"/>
            <a:ext cx="9144000" cy="1165860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3CBFA0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960120"/>
            <a:ext cx="6858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Enterprise Warranty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Diagnostics Platform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94360" y="242316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C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Graph-First Intelligent Triage for Warranty &amp; Support Operations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94360" y="3154680"/>
            <a:ext cx="1965960" cy="38404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321868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0" y="3154680"/>
            <a:ext cx="1965960" cy="38404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0" y="321868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Integration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92040" y="3154680"/>
            <a:ext cx="1965960" cy="38404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321868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Delivery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413308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Proposal  ·  Solution, Approach &amp; Delivery Methodology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589520" y="413308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6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53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82296" cy="1353312"/>
          </a:xfrm>
          <a:prstGeom prst="rect">
            <a:avLst/>
          </a:prstGeom>
          <a:solidFill>
            <a:srgbClr val="3CBFA0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1261872"/>
            <a:ext cx="8138160" cy="3657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Business Challenge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74980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Warranty and support operations at an inflection point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489204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EF3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481328"/>
            <a:ext cx="64008" cy="283464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9" name="Text 7"/>
          <p:cNvSpPr/>
          <p:nvPr/>
        </p:nvSpPr>
        <p:spPr>
          <a:xfrm>
            <a:off x="704088" y="1645920"/>
            <a:ext cx="4526280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Enterprises face a structural mismatch: rising contact volume, higher customer expectations for AI-assisted service, and zero tolerance for unsafe or non-compliant repair guidance.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High-volume contacts that could self-resolve with trusted guidance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Safety-critical symptoms requiring immediate human intervention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Out-of-warranty and invalid claims consuming tier-1 capacity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re-interviewing customers without prior diagnostic context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knowledge across CRM, product, field, and claims systems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577840" y="1481328"/>
            <a:ext cx="3063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EF3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577840" y="1481328"/>
            <a:ext cx="64008" cy="804672"/>
          </a:xfrm>
          <a:prstGeom prst="rect">
            <a:avLst/>
          </a:prstGeom>
          <a:solidFill>
            <a:srgbClr val="3CBFA0"/>
          </a:solidFill>
          <a:ln/>
        </p:spPr>
      </p:sp>
      <p:sp>
        <p:nvSpPr>
          <p:cNvPr id="12" name="Text 10"/>
          <p:cNvSpPr/>
          <p:nvPr/>
        </p:nvSpPr>
        <p:spPr>
          <a:xfrm>
            <a:off x="5742432" y="1572768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4F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30–50%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812280" y="15544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Tier-1 deflection potential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12280" y="181051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(post-scale, family-dependent)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577840" y="2414016"/>
            <a:ext cx="3063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EF3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577840" y="2414016"/>
            <a:ext cx="64008" cy="804672"/>
          </a:xfrm>
          <a:prstGeom prst="rect">
            <a:avLst/>
          </a:prstGeom>
          <a:solidFill>
            <a:srgbClr val="3CBFA0"/>
          </a:solidFill>
          <a:ln/>
        </p:spPr>
      </p:sp>
      <p:sp>
        <p:nvSpPr>
          <p:cNvPr id="17" name="Text 15"/>
          <p:cNvSpPr/>
          <p:nvPr/>
        </p:nvSpPr>
        <p:spPr>
          <a:xfrm>
            <a:off x="5742432" y="2505456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4F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20–40%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812280" y="24871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AHT reduction on escalations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12280" y="27432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(pre-built diagnostic dossier)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577840" y="3346704"/>
            <a:ext cx="3063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EF3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577840" y="3346704"/>
            <a:ext cx="64008" cy="804672"/>
          </a:xfrm>
          <a:prstGeom prst="rect">
            <a:avLst/>
          </a:prstGeom>
          <a:solidFill>
            <a:srgbClr val="3CBFA0"/>
          </a:solidFill>
          <a:ln/>
        </p:spPr>
      </p:sp>
      <p:sp>
        <p:nvSpPr>
          <p:cNvPr id="22" name="Text 20"/>
          <p:cNvSpPr/>
          <p:nvPr/>
        </p:nvSpPr>
        <p:spPr>
          <a:xfrm>
            <a:off x="5742432" y="3438144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4F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812280" y="341985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on escalated cases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12280" y="367588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(source-traceable evidence)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482803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Warranty Diagnostics  ·  Confidential Proposal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482803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6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53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82296" cy="1353312"/>
          </a:xfrm>
          <a:prstGeom prst="rect">
            <a:avLst/>
          </a:prstGeom>
          <a:solidFill>
            <a:srgbClr val="3CBFA0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1261872"/>
            <a:ext cx="8138160" cy="3657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Program Objective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74980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governed platform — four mutually reinforcing outcomes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39319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EF3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481328"/>
            <a:ext cx="64008" cy="132588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1645920"/>
            <a:ext cx="502920" cy="502920"/>
          </a:xfrm>
          <a:prstGeom prst="rect">
            <a:avLst/>
          </a:prstGeom>
          <a:solidFill>
            <a:srgbClr val="D6EEF3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" y="17190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4F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07592" y="1645920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Resolution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" y="210312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eligible warranty inquiries with graph-backed diagnosis and guided troubleshooting — reducing unnecessary agent load.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1481328"/>
            <a:ext cx="39319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EF3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481328"/>
            <a:ext cx="64008" cy="132588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5" name="Shape 13"/>
          <p:cNvSpPr/>
          <p:nvPr/>
        </p:nvSpPr>
        <p:spPr>
          <a:xfrm>
            <a:off x="4828032" y="1645920"/>
            <a:ext cx="502920" cy="502920"/>
          </a:xfrm>
          <a:prstGeom prst="rect">
            <a:avLst/>
          </a:prstGeom>
          <a:solidFill>
            <a:srgbClr val="D6EEF3"/>
          </a:solidFill>
          <a:ln/>
        </p:spPr>
      </p:sp>
      <p:sp>
        <p:nvSpPr>
          <p:cNvPr id="16" name="Text 14"/>
          <p:cNvSpPr/>
          <p:nvPr/>
        </p:nvSpPr>
        <p:spPr>
          <a:xfrm>
            <a:off x="4828032" y="17190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4F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68112" y="1645920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Policy Integrity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28032" y="210312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escalation on critical symptoms and low-confidence cases — automation never overrides human accountability.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" y="2962656"/>
            <a:ext cx="39319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EF3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" y="2962656"/>
            <a:ext cx="64008" cy="132588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" y="3127248"/>
            <a:ext cx="502920" cy="502920"/>
          </a:xfrm>
          <a:prstGeom prst="rect">
            <a:avLst/>
          </a:prstGeom>
          <a:solidFill>
            <a:srgbClr val="D6EEF3"/>
          </a:solidFill>
          <a:ln/>
        </p:spPr>
      </p:sp>
      <p:sp>
        <p:nvSpPr>
          <p:cNvPr id="22" name="Text 20"/>
          <p:cNvSpPr/>
          <p:nvPr/>
        </p:nvSpPr>
        <p:spPr>
          <a:xfrm>
            <a:off x="667512" y="32004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4F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07592" y="3127248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Empowerment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67512" y="3584448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 complete diagnostic dossier — symptoms, ranked failure modes, steps tried, warranty context — before the agent speaks to the customer.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2962656"/>
            <a:ext cx="39319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EF3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2962656"/>
            <a:ext cx="64008" cy="132588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27" name="Shape 25"/>
          <p:cNvSpPr/>
          <p:nvPr/>
        </p:nvSpPr>
        <p:spPr>
          <a:xfrm>
            <a:off x="4828032" y="3127248"/>
            <a:ext cx="502920" cy="502920"/>
          </a:xfrm>
          <a:prstGeom prst="rect">
            <a:avLst/>
          </a:prstGeom>
          <a:solidFill>
            <a:srgbClr val="D6EEF3"/>
          </a:solidFill>
          <a:ln/>
        </p:spPr>
      </p:sp>
      <p:sp>
        <p:nvSpPr>
          <p:cNvPr id="28" name="Text 26"/>
          <p:cNvSpPr/>
          <p:nvPr/>
        </p:nvSpPr>
        <p:spPr>
          <a:xfrm>
            <a:off x="4828032" y="32004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4F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468112" y="3127248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Evidence-Led Operations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28032" y="3584448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knowledge ingestion, lineage audit, and phase-gated metrics — so scale is earned, not assumed.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32" name="Text 30"/>
          <p:cNvSpPr/>
          <p:nvPr/>
        </p:nvSpPr>
        <p:spPr>
          <a:xfrm>
            <a:off x="502920" y="482803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Warranty Diagnostics  ·  Confidential Proposal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229600" y="482803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6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53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82296" cy="1353312"/>
          </a:xfrm>
          <a:prstGeom prst="rect">
            <a:avLst/>
          </a:prstGeom>
          <a:solidFill>
            <a:srgbClr val="3CBFA0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1261872"/>
            <a:ext cx="8138160" cy="3657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Solution Architecture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74980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platform connecting enterprise knowledge to customer outcomes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1709928"/>
            <a:ext cx="320040" cy="18288"/>
          </a:xfrm>
          <a:prstGeom prst="rect">
            <a:avLst/>
          </a:prstGeom>
          <a:solidFill>
            <a:srgbClr val="3CBFA0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81328"/>
            <a:ext cx="8138160" cy="475488"/>
          </a:xfrm>
          <a:prstGeom prst="rect">
            <a:avLst/>
          </a:prstGeom>
          <a:solidFill>
            <a:srgbClr val="D6EEF3"/>
          </a:solidFill>
          <a:ln w="9525">
            <a:solidFill>
              <a:srgbClr val="D6EE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554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&amp; Agent Channels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834640" y="1572768"/>
            <a:ext cx="56692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 ·  Mobile  ·  Agent Desktop  ·  REST API  ·  Future IVR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50392" y="193852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E7C86"/>
                </a:solidFill>
              </a:rPr>
              <a:t>▼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822960" y="2286000"/>
            <a:ext cx="320040" cy="18288"/>
          </a:xfrm>
          <a:prstGeom prst="rect">
            <a:avLst/>
          </a:prstGeom>
          <a:solidFill>
            <a:srgbClr val="3CBFA0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2039112"/>
            <a:ext cx="813816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6EEF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112264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Diagnostics Platform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834640" y="2130552"/>
            <a:ext cx="56692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Orchestration  →  GraphRAG Engine  →  Warranty Gate  →  Escalation &amp; Case Handoff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50392" y="253288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E7C86"/>
                </a:solidFill>
              </a:rPr>
              <a:t>▼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822960" y="2880360"/>
            <a:ext cx="320040" cy="18288"/>
          </a:xfrm>
          <a:prstGeom prst="rect">
            <a:avLst/>
          </a:prstGeom>
          <a:solidFill>
            <a:srgbClr val="3CBFA0"/>
          </a:solidFill>
          <a:ln/>
        </p:spPr>
      </p:sp>
      <p:sp>
        <p:nvSpPr>
          <p:cNvPr id="18" name="Shape 16"/>
          <p:cNvSpPr/>
          <p:nvPr/>
        </p:nvSpPr>
        <p:spPr>
          <a:xfrm>
            <a:off x="502920" y="2633472"/>
            <a:ext cx="813816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6EEF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2706624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(Neo4j)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834640" y="2724912"/>
            <a:ext cx="56692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 ·  Symptoms  ·  Failure Modes  ·  Diagnostic Steps  ·  Parts  ·  Field Evidence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50392" y="312724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E7C86"/>
                </a:solidFill>
              </a:rPr>
              <a:t>▼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822960" y="3456432"/>
            <a:ext cx="320040" cy="18288"/>
          </a:xfrm>
          <a:prstGeom prst="rect">
            <a:avLst/>
          </a:prstGeom>
          <a:solidFill>
            <a:srgbClr val="3CBFA0"/>
          </a:solidFill>
          <a:ln/>
        </p:spPr>
      </p:sp>
      <p:sp>
        <p:nvSpPr>
          <p:cNvPr id="23" name="Shape 21"/>
          <p:cNvSpPr/>
          <p:nvPr/>
        </p:nvSpPr>
        <p:spPr>
          <a:xfrm>
            <a:off x="502920" y="3227832"/>
            <a:ext cx="8138160" cy="475488"/>
          </a:xfrm>
          <a:prstGeom prst="rect">
            <a:avLst/>
          </a:prstGeom>
          <a:solidFill>
            <a:srgbClr val="D6EEF3"/>
          </a:solidFill>
          <a:ln w="9525">
            <a:solidFill>
              <a:srgbClr val="D6EEF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30098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Engineering (Batch)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834640" y="3319272"/>
            <a:ext cx="56692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Pipelines  ·  Ontology Builder  ·  SME Approval  ·  Smoke Validation  ·  Staging Promotion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50392" y="368503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E7C86"/>
                </a:solidFill>
              </a:rPr>
              <a:t>▼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822960" y="4014216"/>
            <a:ext cx="320040" cy="18288"/>
          </a:xfrm>
          <a:prstGeom prst="rect">
            <a:avLst/>
          </a:prstGeom>
          <a:solidFill>
            <a:srgbClr val="3CBFA0"/>
          </a:solidFill>
          <a:ln/>
        </p:spPr>
      </p:sp>
      <p:sp>
        <p:nvSpPr>
          <p:cNvPr id="28" name="Shape 26"/>
          <p:cNvSpPr/>
          <p:nvPr/>
        </p:nvSpPr>
        <p:spPr>
          <a:xfrm>
            <a:off x="502920" y="3785616"/>
            <a:ext cx="8138160" cy="475488"/>
          </a:xfrm>
          <a:prstGeom prst="rect">
            <a:avLst/>
          </a:prstGeom>
          <a:solidFill>
            <a:srgbClr val="0B4F6C"/>
          </a:solidFill>
          <a:ln w="9525">
            <a:solidFill>
              <a:srgbClr val="D6EEF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38587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C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Systems of Record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834640" y="3877056"/>
            <a:ext cx="56692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 ·  PIM / PLM  ·  Field Service  ·  Claims  ·  Service Knowledge Base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2920" y="4187952"/>
            <a:ext cx="8138160" cy="47548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2" name="Text 30"/>
          <p:cNvSpPr/>
          <p:nvPr/>
        </p:nvSpPr>
        <p:spPr>
          <a:xfrm>
            <a:off x="667512" y="4279392"/>
            <a:ext cx="7808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principle: the knowledge graph is the system of truth — generative AI augments presentation, not diagnosis authority.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" y="482803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Warranty Diagnostics  ·  Confidential Proposal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229600" y="482803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6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53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82296" cy="1353312"/>
          </a:xfrm>
          <a:prstGeom prst="rect">
            <a:avLst/>
          </a:prstGeom>
          <a:solidFill>
            <a:srgbClr val="3CBFA0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1261872"/>
            <a:ext cx="8138160" cy="3657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Approach: Graph-First GraphRAG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74980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 auditable reasoning for regulated warranty and repair advice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388620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EF3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481328"/>
            <a:ext cx="64008" cy="288036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5910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approach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192024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920240" y="19202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 → failure relationships with explicit confidence scores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239572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920240" y="239572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output cites FMEA, manuals, or field service records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" y="2871216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920240" y="2871216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severity bypasses automation; SME-governed content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85800" y="3346704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920240" y="3346704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alignment with CRM, product, field, and claims data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382219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920240" y="382219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 graph query cost at high volume vs. per-token LLM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17720" y="1481328"/>
            <a:ext cx="3108960" cy="2880360"/>
          </a:xfrm>
          <a:prstGeom prst="rect">
            <a:avLst/>
          </a:prstGeom>
          <a:solidFill>
            <a:srgbClr val="1A2744"/>
          </a:solidFill>
          <a:ln w="12700">
            <a:solidFill>
              <a:srgbClr val="0B4F6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161848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C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Alternatives we do not lead with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54880" y="1984248"/>
            <a:ext cx="2834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D6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LLM-only chat without authoritative graph truth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D6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IVR trees across hundreds of product families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D6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 on PDF manuals without structured ranking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D6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automation targets that ignore safety escalation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00600" y="39044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C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may enhance language — never replace graph evidence.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482803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Warranty Diagnostics  ·  Confidential Proposal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229600" y="482803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6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53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82296" cy="1353312"/>
          </a:xfrm>
          <a:prstGeom prst="rect">
            <a:avLst/>
          </a:prstGeom>
          <a:solidFill>
            <a:srgbClr val="3CBFA0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1261872"/>
            <a:ext cx="8138160" cy="3657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Operating Model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74980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velocities — governed batch ingestion and real-time diagnosis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3886200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EF3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481328"/>
            <a:ext cx="64008" cy="2487168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9" name="Shape 7"/>
          <p:cNvSpPr/>
          <p:nvPr/>
        </p:nvSpPr>
        <p:spPr>
          <a:xfrm>
            <a:off x="502920" y="1481328"/>
            <a:ext cx="3886200" cy="438912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57276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· Knowledge Engineering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67512" y="2039112"/>
            <a:ext cx="201168" cy="201168"/>
          </a:xfrm>
          <a:prstGeom prst="ellipse">
            <a:avLst/>
          </a:prstGeom>
          <a:solidFill>
            <a:srgbClr val="D6EEF3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" y="205740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941832" y="198424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from PIM, FSM, Claims, CRM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67512" y="2359152"/>
            <a:ext cx="201168" cy="201168"/>
          </a:xfrm>
          <a:prstGeom prst="ellipse">
            <a:avLst/>
          </a:prstGeom>
          <a:solidFill>
            <a:srgbClr val="D6EEF3"/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" y="237744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941832" y="230428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to governed ontology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67512" y="2679192"/>
            <a:ext cx="201168" cy="201168"/>
          </a:xfrm>
          <a:prstGeom prst="ellipse">
            <a:avLst/>
          </a:prstGeom>
          <a:solidFill>
            <a:srgbClr val="D6EEF3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" y="269748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941832" y="262432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review on safety-critical content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67512" y="2999232"/>
            <a:ext cx="201168" cy="201168"/>
          </a:xfrm>
          <a:prstGeom prst="ellipse">
            <a:avLst/>
          </a:prstGeom>
          <a:solidFill>
            <a:srgbClr val="D6EEF3"/>
          </a:solidFill>
          <a:ln/>
        </p:spPr>
      </p:sp>
      <p:sp>
        <p:nvSpPr>
          <p:cNvPr id="21" name="Text 19"/>
          <p:cNvSpPr/>
          <p:nvPr/>
        </p:nvSpPr>
        <p:spPr>
          <a:xfrm>
            <a:off x="667512" y="301752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941832" y="294436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and load staging graph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67512" y="3319272"/>
            <a:ext cx="201168" cy="201168"/>
          </a:xfrm>
          <a:prstGeom prst="ellipse">
            <a:avLst/>
          </a:prstGeom>
          <a:solidFill>
            <a:srgbClr val="D6EEF3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" y="333756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941832" y="326440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regression gate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67512" y="3639312"/>
            <a:ext cx="201168" cy="201168"/>
          </a:xfrm>
          <a:prstGeom prst="ellipse">
            <a:avLst/>
          </a:prstGeom>
          <a:solidFill>
            <a:srgbClr val="D6EEF3"/>
          </a:solidFill>
          <a:ln/>
        </p:spPr>
      </p:sp>
      <p:sp>
        <p:nvSpPr>
          <p:cNvPr id="27" name="Text 25"/>
          <p:cNvSpPr/>
          <p:nvPr/>
        </p:nvSpPr>
        <p:spPr>
          <a:xfrm>
            <a:off x="667512" y="365760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941832" y="358444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approved batch to production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17720" y="1481328"/>
            <a:ext cx="3886200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EF3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17720" y="1481328"/>
            <a:ext cx="64008" cy="248716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1" name="Shape 29"/>
          <p:cNvSpPr/>
          <p:nvPr/>
        </p:nvSpPr>
        <p:spPr>
          <a:xfrm>
            <a:off x="4617720" y="1481328"/>
            <a:ext cx="3886200" cy="438912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2" name="Text 30"/>
          <p:cNvSpPr/>
          <p:nvPr/>
        </p:nvSpPr>
        <p:spPr>
          <a:xfrm>
            <a:off x="4754880" y="157276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· Customer Diagnosis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82312" y="2039112"/>
            <a:ext cx="201168" cy="201168"/>
          </a:xfrm>
          <a:prstGeom prst="ellipse">
            <a:avLst/>
          </a:prstGeom>
          <a:solidFill>
            <a:srgbClr val="D6EEF3"/>
          </a:solidFill>
          <a:ln/>
        </p:spPr>
      </p:sp>
      <p:sp>
        <p:nvSpPr>
          <p:cNvPr id="34" name="Text 32"/>
          <p:cNvSpPr/>
          <p:nvPr/>
        </p:nvSpPr>
        <p:spPr>
          <a:xfrm>
            <a:off x="4782312" y="205740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056632" y="198424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asset binding &amp; warranty check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82312" y="2359152"/>
            <a:ext cx="201168" cy="201168"/>
          </a:xfrm>
          <a:prstGeom prst="ellipse">
            <a:avLst/>
          </a:prstGeom>
          <a:solidFill>
            <a:srgbClr val="D6EEF3"/>
          </a:solidFill>
          <a:ln/>
        </p:spPr>
      </p:sp>
      <p:sp>
        <p:nvSpPr>
          <p:cNvPr id="37" name="Text 35"/>
          <p:cNvSpPr/>
          <p:nvPr/>
        </p:nvSpPr>
        <p:spPr>
          <a:xfrm>
            <a:off x="4782312" y="237744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056632" y="230428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detection &amp; symptom matching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82312" y="2679192"/>
            <a:ext cx="201168" cy="201168"/>
          </a:xfrm>
          <a:prstGeom prst="ellipse">
            <a:avLst/>
          </a:prstGeom>
          <a:solidFill>
            <a:srgbClr val="D6EEF3"/>
          </a:solidFill>
          <a:ln/>
        </p:spPr>
      </p:sp>
      <p:sp>
        <p:nvSpPr>
          <p:cNvPr id="40" name="Text 38"/>
          <p:cNvSpPr/>
          <p:nvPr/>
        </p:nvSpPr>
        <p:spPr>
          <a:xfrm>
            <a:off x="4782312" y="269748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056632" y="262432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 ranking with confidence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782312" y="2999232"/>
            <a:ext cx="201168" cy="201168"/>
          </a:xfrm>
          <a:prstGeom prst="ellipse">
            <a:avLst/>
          </a:prstGeom>
          <a:solidFill>
            <a:srgbClr val="D6EEF3"/>
          </a:solidFill>
          <a:ln/>
        </p:spPr>
      </p:sp>
      <p:sp>
        <p:nvSpPr>
          <p:cNvPr id="43" name="Text 41"/>
          <p:cNvSpPr/>
          <p:nvPr/>
        </p:nvSpPr>
        <p:spPr>
          <a:xfrm>
            <a:off x="4782312" y="301752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056632" y="294436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and threshold evaluation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782312" y="3319272"/>
            <a:ext cx="201168" cy="201168"/>
          </a:xfrm>
          <a:prstGeom prst="ellipse">
            <a:avLst/>
          </a:prstGeom>
          <a:solidFill>
            <a:srgbClr val="D6EEF3"/>
          </a:solidFill>
          <a:ln/>
        </p:spPr>
      </p:sp>
      <p:sp>
        <p:nvSpPr>
          <p:cNvPr id="46" name="Text 44"/>
          <p:cNvSpPr/>
          <p:nvPr/>
        </p:nvSpPr>
        <p:spPr>
          <a:xfrm>
            <a:off x="4782312" y="333756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056632" y="326440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steps or escalation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782312" y="3639312"/>
            <a:ext cx="201168" cy="201168"/>
          </a:xfrm>
          <a:prstGeom prst="ellipse">
            <a:avLst/>
          </a:prstGeom>
          <a:solidFill>
            <a:srgbClr val="D6EEF3"/>
          </a:solidFill>
          <a:ln/>
        </p:spPr>
      </p:sp>
      <p:sp>
        <p:nvSpPr>
          <p:cNvPr id="49" name="Text 47"/>
          <p:cNvSpPr/>
          <p:nvPr/>
        </p:nvSpPr>
        <p:spPr>
          <a:xfrm>
            <a:off x="4782312" y="365760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5056632" y="358444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dossier to contact center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02920" y="4133088"/>
            <a:ext cx="8138160" cy="47548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52" name="Text 50"/>
          <p:cNvSpPr/>
          <p:nvPr/>
        </p:nvSpPr>
        <p:spPr>
          <a:xfrm>
            <a:off x="667512" y="4224528"/>
            <a:ext cx="7808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diagnosis is read-only against the approved graph — enabling audit, rollback, and compliance.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54" name="Text 52"/>
          <p:cNvSpPr/>
          <p:nvPr/>
        </p:nvSpPr>
        <p:spPr>
          <a:xfrm>
            <a:off x="502920" y="482803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Warranty Diagnostics  ·  Confidential Proposal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8229600" y="482803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6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53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82296" cy="1353312"/>
          </a:xfrm>
          <a:prstGeom prst="rect">
            <a:avLst/>
          </a:prstGeom>
          <a:solidFill>
            <a:srgbClr val="3CBFA0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1261872"/>
            <a:ext cx="8138160" cy="3657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Delivery Methodology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74980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Evidence-gated phases — funding follows proof, not calendar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190195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EF3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481328"/>
            <a:ext cx="64008" cy="2331720"/>
          </a:xfrm>
          <a:prstGeom prst="rect">
            <a:avLst/>
          </a:prstGeom>
          <a:solidFill>
            <a:srgbClr val="3CBFA0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1618488"/>
            <a:ext cx="457200" cy="457200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68249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61288" y="164592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61288" y="190195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0–2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40080" y="2194560"/>
            <a:ext cx="16276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problem, map systems, register assumptions &amp; client dependencies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2648" y="3200400"/>
            <a:ext cx="1682496" cy="475488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" y="3255264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 Sponsor charter · SME commitment · data path identified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2532888" y="1481328"/>
            <a:ext cx="190195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EF3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532888" y="1481328"/>
            <a:ext cx="64008" cy="2331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8" name="Shape 16"/>
          <p:cNvSpPr/>
          <p:nvPr/>
        </p:nvSpPr>
        <p:spPr>
          <a:xfrm>
            <a:off x="2670048" y="1618488"/>
            <a:ext cx="457200" cy="457200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19" name="Text 17"/>
          <p:cNvSpPr/>
          <p:nvPr/>
        </p:nvSpPr>
        <p:spPr>
          <a:xfrm>
            <a:off x="2670048" y="168249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191256" y="164592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191256" y="190195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3–10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670048" y="2194560"/>
            <a:ext cx="16276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on limited product scope with real enterprise data &amp; integrations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642616" y="3200400"/>
            <a:ext cx="1682496" cy="475488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24" name="Text 22"/>
          <p:cNvSpPr/>
          <p:nvPr/>
        </p:nvSpPr>
        <p:spPr>
          <a:xfrm>
            <a:off x="2697480" y="3255264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 ≥70% scenario accuracy · provenance complete · CRM read live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562856" y="1481328"/>
            <a:ext cx="190195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EF3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62856" y="1481328"/>
            <a:ext cx="64008" cy="2331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27" name="Shape 25"/>
          <p:cNvSpPr/>
          <p:nvPr/>
        </p:nvSpPr>
        <p:spPr>
          <a:xfrm>
            <a:off x="4700016" y="1618488"/>
            <a:ext cx="457200" cy="457200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28" name="Text 26"/>
          <p:cNvSpPr/>
          <p:nvPr/>
        </p:nvSpPr>
        <p:spPr>
          <a:xfrm>
            <a:off x="4700016" y="168249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221224" y="164592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221224" y="190195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11–18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700016" y="2194560"/>
            <a:ext cx="16276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with live agents, case write-back, scheduled ETL, SSO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72584" y="3200400"/>
            <a:ext cx="1682496" cy="475488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3" name="Text 31"/>
          <p:cNvSpPr/>
          <p:nvPr/>
        </p:nvSpPr>
        <p:spPr>
          <a:xfrm>
            <a:off x="4727448" y="3255264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 Override trending down · ETL reliable · KPI baseline beat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6592824" y="1481328"/>
            <a:ext cx="190195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EF3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592824" y="1481328"/>
            <a:ext cx="64008" cy="2331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6" name="Shape 34"/>
          <p:cNvSpPr/>
          <p:nvPr/>
        </p:nvSpPr>
        <p:spPr>
          <a:xfrm>
            <a:off x="6729984" y="1618488"/>
            <a:ext cx="457200" cy="457200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37" name="Text 35"/>
          <p:cNvSpPr/>
          <p:nvPr/>
        </p:nvSpPr>
        <p:spPr>
          <a:xfrm>
            <a:off x="6729984" y="168249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251192" y="164592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251192" y="190195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5+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729984" y="2194560"/>
            <a:ext cx="16276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expansion, HA platform, governance pipelines, regional rollout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702552" y="3200400"/>
            <a:ext cx="1682496" cy="475488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42" name="Text 40"/>
          <p:cNvSpPr/>
          <p:nvPr/>
        </p:nvSpPr>
        <p:spPr>
          <a:xfrm>
            <a:off x="6757416" y="3255264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 Security sign-off · sustained accuracy · ops runbooks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502920" y="3977640"/>
            <a:ext cx="8138160" cy="47548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4" name="Text 42"/>
          <p:cNvSpPr/>
          <p:nvPr/>
        </p:nvSpPr>
        <p:spPr>
          <a:xfrm>
            <a:off x="667512" y="4069080"/>
            <a:ext cx="7808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 produces measurable evidence before the next is funded — protecting both client and delivery investment.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46" name="Text 44"/>
          <p:cNvSpPr/>
          <p:nvPr/>
        </p:nvSpPr>
        <p:spPr>
          <a:xfrm>
            <a:off x="502920" y="482803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Warranty Diagnostics  ·  Confidential Proposal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8229600" y="482803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6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53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82296" cy="1353312"/>
          </a:xfrm>
          <a:prstGeom prst="rect">
            <a:avLst/>
          </a:prstGeom>
          <a:solidFill>
            <a:srgbClr val="3CBFA0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1261872"/>
            <a:ext cx="8138160" cy="3657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 Pillars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74980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principles that govern every phase of delivery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39319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EF3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481328"/>
            <a:ext cx="64008" cy="111556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1682496"/>
            <a:ext cx="384048" cy="384048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" y="175564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61288" y="16184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before build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61288" y="19202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problem, data, and landscape before scope commitment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1481328"/>
            <a:ext cx="39319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EF3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481328"/>
            <a:ext cx="64008" cy="111556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5" name="Shape 13"/>
          <p:cNvSpPr/>
          <p:nvPr/>
        </p:nvSpPr>
        <p:spPr>
          <a:xfrm>
            <a:off x="4828032" y="1682496"/>
            <a:ext cx="384048" cy="384048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16" name="Text 14"/>
          <p:cNvSpPr/>
          <p:nvPr/>
        </p:nvSpPr>
        <p:spPr>
          <a:xfrm>
            <a:off x="4828032" y="175564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21808" y="16184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Graph-truth before generation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21808" y="19202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retrieval is authoritative; LLM is optional UX only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" y="2743200"/>
            <a:ext cx="39319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EF3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" y="2743200"/>
            <a:ext cx="64008" cy="111556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" y="2944368"/>
            <a:ext cx="384048" cy="384048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22" name="Text 20"/>
          <p:cNvSpPr/>
          <p:nvPr/>
        </p:nvSpPr>
        <p:spPr>
          <a:xfrm>
            <a:off x="667512" y="301752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61288" y="28803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knowledge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61288" y="318211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SME-approved ontology — safety content never self-certified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2743200"/>
            <a:ext cx="39319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EF3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2743200"/>
            <a:ext cx="64008" cy="111556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27" name="Shape 25"/>
          <p:cNvSpPr/>
          <p:nvPr/>
        </p:nvSpPr>
        <p:spPr>
          <a:xfrm>
            <a:off x="4828032" y="2944368"/>
            <a:ext cx="384048" cy="384048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28" name="Text 26"/>
          <p:cNvSpPr/>
          <p:nvPr/>
        </p:nvSpPr>
        <p:spPr>
          <a:xfrm>
            <a:off x="4828032" y="301752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321808" y="28803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automation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321808" y="318211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on uncertainty and critical severity by design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2920" y="4005072"/>
            <a:ext cx="8138160" cy="438912"/>
          </a:xfrm>
          <a:prstGeom prst="rect">
            <a:avLst/>
          </a:prstGeom>
          <a:solidFill>
            <a:srgbClr val="1A2744"/>
          </a:solidFill>
          <a:ln w="12700">
            <a:solidFill>
              <a:srgbClr val="D6EEF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" y="4069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C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·  Phased proof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514600" y="40690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catalog and channels only when phase gates and KPIs support scale — never on assumption alone.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35" name="Text 33"/>
          <p:cNvSpPr/>
          <p:nvPr/>
        </p:nvSpPr>
        <p:spPr>
          <a:xfrm>
            <a:off x="502920" y="482803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Warranty Diagnostics  ·  Confidential Proposal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229600" y="482803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6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53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82296" cy="1353312"/>
          </a:xfrm>
          <a:prstGeom prst="rect">
            <a:avLst/>
          </a:prstGeom>
          <a:solidFill>
            <a:srgbClr val="3CBFA0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1261872"/>
            <a:ext cx="8138160" cy="3657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Enterprise Integration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74980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to your systems of record — not a standalone chatbot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81328"/>
          <a:ext cx="813816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4434840"/>
                <a:gridCol w="246888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 in Platform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 Mode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identity, registered assets, warranty dates, case write-back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Runtime + escalation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PIM / PLM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taxonomy, parts BOM, FMEA, service manual metadata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ETL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 Service (FSM)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Confirmed repair outcomes, technician resolution notes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ETL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Claims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rules, closed claim outcomes, eligibility reference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Runtime gate + batch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Contact Center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Escalation routing, agent desktop, priority case creation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Runtime handoff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02920" y="3703320"/>
            <a:ext cx="3931920" cy="530352"/>
          </a:xfrm>
          <a:prstGeom prst="rect">
            <a:avLst/>
          </a:prstGeom>
          <a:solidFill>
            <a:srgbClr val="D6EEF3"/>
          </a:solidFill>
          <a:ln w="12700">
            <a:solidFill>
              <a:srgbClr val="D6EEF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376732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737360" y="37947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 ·  SME approval  ·  Smoke gates  ·  PII boundary  ·  Lineage audit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709160" y="3703320"/>
            <a:ext cx="3017520" cy="530352"/>
          </a:xfrm>
          <a:prstGeom prst="rect">
            <a:avLst/>
          </a:prstGeom>
          <a:solidFill>
            <a:srgbClr val="1A2744"/>
          </a:solidFill>
          <a:ln w="12700">
            <a:solidFill>
              <a:srgbClr val="D6EEF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46320" y="3794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C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by design — escalation is success, not failure.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14" name="Text 11"/>
          <p:cNvSpPr/>
          <p:nvPr/>
        </p:nvSpPr>
        <p:spPr>
          <a:xfrm>
            <a:off x="502920" y="482803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Warranty Diagnostics  ·  Confidential Proposal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8229600" y="482803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6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53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82296" cy="1353312"/>
          </a:xfrm>
          <a:prstGeom prst="rect">
            <a:avLst/>
          </a:prstGeom>
          <a:solidFill>
            <a:srgbClr val="3CBFA0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1261872"/>
            <a:ext cx="8138160" cy="3657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Measuring Success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74980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KPIs tied to phase gates — baselines set in discovery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81328"/>
          <a:ext cx="81381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3840480"/>
                <a:gridCol w="320040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evidence required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Secondary indicators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Discover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AHT, tier-1 volume, escalation rate documented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Assumption register agreed with sponsors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 (POC)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Top-1 failure mode accuracy on client scenario pack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provenance on escalated cases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Pilot (MVP)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override rate trending down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Escalated AHT vs. baseline · tier-1 deflection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Regional accuracy on governed catalog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 SLOs · ETL reliability ≥99.5%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02920" y="3611880"/>
            <a:ext cx="8138160" cy="566928"/>
          </a:xfrm>
          <a:prstGeom prst="rect">
            <a:avLst/>
          </a:prstGeom>
          <a:solidFill>
            <a:srgbClr val="F4F7FA"/>
          </a:solidFill>
          <a:ln w="12700">
            <a:solidFill>
              <a:srgbClr val="D6EEF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37307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 not commit executive ROI targets until pilot data exists — directional ranges are planning hypotheses only.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82803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Warranty Diagnostics  ·  Confidential Proposal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8229600" y="482803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6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53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82296" cy="1353312"/>
          </a:xfrm>
          <a:prstGeom prst="rect">
            <a:avLst/>
          </a:prstGeom>
          <a:solidFill>
            <a:srgbClr val="3CBFA0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1261872"/>
            <a:ext cx="8138160" cy="3657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Partnership Model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74980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joint program — your organization and ours, with clear accountabilities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81328"/>
          <a:ext cx="81381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383280"/>
                <a:gridCol w="338328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organization provides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team delivers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Executive Sponsor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 charter, phase gates, SME time, sandbox access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Methodology leadership, architecture, delivery management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Engineering SMEs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Symptom catalog, safety approval, failure mode validation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Knowledge engineering, ontology design, evaluation harness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/ Integration Teams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CRM, PIM, FSM, Claims connectivity and credentials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Connector development, contract tests, API abstraction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Contact Center Leadership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Escalation policy, agent pilot, dossier feedback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UI, case handoff, override analytics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Governance &amp; Legal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ownership, PII boundary, retention policy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Provenance model, lineage store, compliance alignment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" y="482803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Warranty Diagnostics  ·  Confidential Proposal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229600" y="482803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6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49240" y="0"/>
            <a:ext cx="3794760" cy="5143500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CBFA0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4114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Recommended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Path Forward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29844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90-day engagement to validate the approach on your data — before scale commitment.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965960"/>
            <a:ext cx="4709160" cy="749808"/>
          </a:xfrm>
          <a:prstGeom prst="rect">
            <a:avLst/>
          </a:prstGeom>
          <a:solidFill>
            <a:srgbClr val="0E7C86">
              <a:alpha val="85000"/>
            </a:srgbClr>
          </a:solidFill>
          <a:ln w="6350">
            <a:solidFill>
              <a:srgbClr val="3CBF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05740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3C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417320" y="20391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&amp; Align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417320" y="2295144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workshop · Source system mapping · Assumption register · Privacy boundary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02920" y="2834640"/>
            <a:ext cx="4709160" cy="749808"/>
          </a:xfrm>
          <a:prstGeom prst="rect">
            <a:avLst/>
          </a:prstGeom>
          <a:solidFill>
            <a:srgbClr val="0E7C86">
              <a:alpha val="85000"/>
            </a:srgbClr>
          </a:solidFill>
          <a:ln w="6350">
            <a:solidFill>
              <a:srgbClr val="3CBF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92608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3C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days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417320" y="29077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Value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417320" y="3163824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Ontology v1 · Live CRM read · First product families on graph · Accuracy benchmark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02920" y="3703320"/>
            <a:ext cx="4709160" cy="749808"/>
          </a:xfrm>
          <a:prstGeom prst="rect">
            <a:avLst/>
          </a:prstGeom>
          <a:solidFill>
            <a:srgbClr val="0E7C86">
              <a:alpha val="85000"/>
            </a:srgbClr>
          </a:solidFill>
          <a:ln w="6350">
            <a:solidFill>
              <a:srgbClr val="3CBF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79476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3C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days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417320" y="37764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Point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417320" y="4032504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readout · Agent dossier review · Pilot charter · Go / refine / pause recommendation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577840" y="502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C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we seek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532120" y="914400"/>
            <a:ext cx="33375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 nomination and steering cadence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sandbox access within 10 business days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engineering SME — 4 hrs/week during Prove phase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 to evidence-gated phases — not fixed big-bang scope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532120" y="2788920"/>
            <a:ext cx="3337560" cy="1234440"/>
          </a:xfrm>
          <a:prstGeom prst="rect">
            <a:avLst/>
          </a:prstGeom>
          <a:solidFill>
            <a:srgbClr val="1A2744"/>
          </a:solidFill>
          <a:ln w="19050">
            <a:solidFill>
              <a:srgbClr val="3CBF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0" y="28803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C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receive at 90 days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669280" y="3182112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6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accuracy report · Working integration path · Agent-ready dossier · Pilot business case with measured velocity — not slides.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3CBFA0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45720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begin with discovery.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4754880" y="464515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next session: Executive alignment workshop (90 minutes)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Enterprise Warranty Diagnostics — Executive Proposal</dc:title>
  <dc:subject>PptxGenJS Presentation</dc:subject>
  <dc:creator>Enterprise Solution Architecture</dc:creator>
  <cp:lastModifiedBy>Enterprise Solution Architecture</cp:lastModifiedBy>
  <cp:revision>1</cp:revision>
  <dcterms:created xsi:type="dcterms:W3CDTF">2026-06-25T13:02:13Z</dcterms:created>
  <dcterms:modified xsi:type="dcterms:W3CDTF">2026-06-25T13:02:13Z</dcterms:modified>
</cp:coreProperties>
</file>